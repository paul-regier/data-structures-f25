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70" r:id="rId11"/>
    <p:sldId id="271" r:id="rId12"/>
    <p:sldId id="272" r:id="rId13"/>
    <p:sldId id="265" r:id="rId14"/>
    <p:sldId id="266" r:id="rId15"/>
    <p:sldId id="267" r:id="rId16"/>
    <p:sldId id="268" r:id="rId17"/>
    <p:sldId id="269" r:id="rId18"/>
    <p:sldId id="273" r:id="rId19"/>
    <p:sldId id="274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72" d="100"/>
          <a:sy n="72" d="100"/>
        </p:scale>
        <p:origin x="2730" y="72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Sorting Strategies: Comparison-Based Sorts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2000"/>
            </a:pPr>
            <a:r>
              <a:t>Bubble Sort</a:t>
            </a:r>
          </a:p>
          <a:p>
            <a:pPr>
              <a:defRPr sz="2000"/>
            </a:pPr>
            <a:r>
              <a:t>Selection Sort</a:t>
            </a:r>
          </a:p>
          <a:p>
            <a:pPr>
              <a:defRPr sz="2000"/>
            </a:pPr>
            <a:r>
              <a:t>Insertion Sort</a:t>
            </a:r>
          </a:p>
          <a:p>
            <a:pPr>
              <a:defRPr sz="2000"/>
            </a:pPr>
            <a:r>
              <a:t>Merge Sort</a:t>
            </a:r>
          </a:p>
          <a:p>
            <a:pPr>
              <a:defRPr sz="2000"/>
            </a:pPr>
            <a:r>
              <a:t>Quick Sort</a:t>
            </a:r>
          </a:p>
          <a:p>
            <a:pPr>
              <a:defRPr sz="2000"/>
            </a:pPr>
            <a:r>
              <a:t>Heap Sort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Bubble Sort – How it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>
              <a:defRPr sz="2000"/>
            </a:pPr>
            <a:r>
              <a:rPr dirty="0"/>
              <a:t>Compare adjacent elements</a:t>
            </a:r>
          </a:p>
          <a:p>
            <a:pPr>
              <a:defRPr sz="2000"/>
            </a:pPr>
            <a:r>
              <a:rPr dirty="0"/>
              <a:t>Swap if out of order</a:t>
            </a:r>
          </a:p>
          <a:p>
            <a:pPr>
              <a:defRPr sz="2000"/>
            </a:pPr>
            <a:r>
              <a:rPr dirty="0"/>
              <a:t>Repeat passes until no swaps</a:t>
            </a:r>
            <a:endParaRPr lang="en-US" dirty="0"/>
          </a:p>
          <a:p>
            <a:pPr>
              <a:defRPr sz="2000"/>
            </a:pPr>
            <a:endParaRPr lang="en-US" dirty="0"/>
          </a:p>
          <a:p>
            <a:pPr>
              <a:defRPr sz="2000"/>
            </a:pPr>
            <a:r>
              <a:rPr lang="en-US" dirty="0"/>
              <a:t>https://www.youtube.com/watch?v=xli_FI7CuzA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Bubble Sort –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2000"/>
            </a:pPr>
            <a:r>
              <a:t>Best: O(n) (already sorted)</a:t>
            </a:r>
          </a:p>
          <a:p>
            <a:pPr>
              <a:defRPr sz="2000"/>
            </a:pPr>
            <a:r>
              <a:t>Average: O(n²)</a:t>
            </a:r>
          </a:p>
          <a:p>
            <a:pPr>
              <a:defRPr sz="2000"/>
            </a:pPr>
            <a:r>
              <a:t>Worst: O(n²)</a:t>
            </a:r>
          </a:p>
          <a:p>
            <a:pPr>
              <a:defRPr sz="2000"/>
            </a:pPr>
            <a:r>
              <a:t>Space: O(1)</a:t>
            </a:r>
          </a:p>
          <a:p>
            <a:pPr>
              <a:defRPr sz="2000"/>
            </a:pPr>
            <a:r>
              <a:t>Stable: Yes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Selection Sort – How it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>
              <a:defRPr sz="2000"/>
            </a:pPr>
            <a:r>
              <a:rPr dirty="0"/>
              <a:t>Find minimum element</a:t>
            </a:r>
          </a:p>
          <a:p>
            <a:pPr>
              <a:defRPr sz="2000"/>
            </a:pPr>
            <a:r>
              <a:rPr dirty="0"/>
              <a:t>Place it at the beginning</a:t>
            </a:r>
          </a:p>
          <a:p>
            <a:pPr>
              <a:defRPr sz="2000"/>
            </a:pPr>
            <a:r>
              <a:rPr dirty="0"/>
              <a:t>Repeat for remaining elements</a:t>
            </a:r>
            <a:endParaRPr lang="en-US" dirty="0"/>
          </a:p>
          <a:p>
            <a:pPr>
              <a:defRPr sz="2000"/>
            </a:pPr>
            <a:endParaRPr lang="en-US" dirty="0"/>
          </a:p>
          <a:p>
            <a:pPr>
              <a:defRPr sz="2000"/>
            </a:pPr>
            <a:r>
              <a:rPr lang="en-US" dirty="0"/>
              <a:t>https://www.youtube.com/watch?v=g-PGLbMth_g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Selection Sort –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2000"/>
            </a:pPr>
            <a:r>
              <a:t>Best: O(n²)</a:t>
            </a:r>
          </a:p>
          <a:p>
            <a:pPr>
              <a:defRPr sz="2000"/>
            </a:pPr>
            <a:r>
              <a:t>Average: O(n²)</a:t>
            </a:r>
          </a:p>
          <a:p>
            <a:pPr>
              <a:defRPr sz="2000"/>
            </a:pPr>
            <a:r>
              <a:t>Worst: O(n²)</a:t>
            </a:r>
          </a:p>
          <a:p>
            <a:pPr>
              <a:defRPr sz="2000"/>
            </a:pPr>
            <a:r>
              <a:t>Space: O(1)</a:t>
            </a:r>
          </a:p>
          <a:p>
            <a:pPr>
              <a:defRPr sz="2000"/>
            </a:pPr>
            <a:r>
              <a:t>Stable: No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Insertion Sort – How it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>
              <a:defRPr sz="2000"/>
            </a:pPr>
            <a:r>
              <a:rPr dirty="0"/>
              <a:t>Build sorted list one element at a time</a:t>
            </a:r>
          </a:p>
          <a:p>
            <a:pPr>
              <a:defRPr sz="2000"/>
            </a:pPr>
            <a:r>
              <a:rPr dirty="0"/>
              <a:t>Insert each new element into correct position</a:t>
            </a:r>
          </a:p>
          <a:p>
            <a:pPr>
              <a:defRPr sz="2000"/>
            </a:pPr>
            <a:r>
              <a:rPr dirty="0"/>
              <a:t>Shifts elements to make room</a:t>
            </a:r>
            <a:endParaRPr lang="en-US" dirty="0"/>
          </a:p>
          <a:p>
            <a:pPr>
              <a:defRPr sz="2000"/>
            </a:pPr>
            <a:endParaRPr lang="en-US" dirty="0"/>
          </a:p>
          <a:p>
            <a:pPr>
              <a:defRPr sz="2000"/>
            </a:pPr>
            <a:r>
              <a:rPr lang="en-US" dirty="0"/>
              <a:t>https://www.youtube.com/watch?v=JU767SDMDvA</a:t>
            </a: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Insertion Sort –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>
              <a:defRPr sz="2000"/>
            </a:pPr>
            <a:r>
              <a:rPr dirty="0"/>
              <a:t>Best: O(n) (nearly sorted)</a:t>
            </a:r>
          </a:p>
          <a:p>
            <a:pPr>
              <a:defRPr sz="2000"/>
            </a:pPr>
            <a:r>
              <a:rPr dirty="0"/>
              <a:t>Average: O(n²)</a:t>
            </a:r>
          </a:p>
          <a:p>
            <a:pPr>
              <a:defRPr sz="2000"/>
            </a:pPr>
            <a:r>
              <a:rPr dirty="0"/>
              <a:t>Worst: O(n²)</a:t>
            </a:r>
          </a:p>
          <a:p>
            <a:pPr>
              <a:defRPr sz="2000"/>
            </a:pPr>
            <a:r>
              <a:rPr dirty="0"/>
              <a:t>Space: O(1)</a:t>
            </a:r>
          </a:p>
          <a:p>
            <a:pPr>
              <a:defRPr sz="2000"/>
            </a:pPr>
            <a:r>
              <a:rPr dirty="0"/>
              <a:t>Stable: Yes</a:t>
            </a:r>
            <a:endParaRPr lang="en-US" dirty="0"/>
          </a:p>
          <a:p>
            <a:pPr>
              <a:defRPr sz="2000"/>
            </a:pPr>
            <a:endParaRPr lang="en-US" dirty="0"/>
          </a:p>
          <a:p>
            <a:pPr>
              <a:defRPr sz="2000"/>
            </a:pP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Merge Sort – How it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>
              <a:defRPr sz="2000"/>
            </a:pPr>
            <a:r>
              <a:rPr dirty="0"/>
              <a:t>Divide array into halves</a:t>
            </a:r>
          </a:p>
          <a:p>
            <a:pPr>
              <a:defRPr sz="2000"/>
            </a:pPr>
            <a:r>
              <a:rPr dirty="0"/>
              <a:t>Recursively sort each half</a:t>
            </a:r>
          </a:p>
          <a:p>
            <a:pPr>
              <a:defRPr sz="2000"/>
            </a:pPr>
            <a:r>
              <a:rPr dirty="0"/>
              <a:t>Merge sorted halves</a:t>
            </a:r>
            <a:endParaRPr lang="en-US" dirty="0"/>
          </a:p>
          <a:p>
            <a:pPr>
              <a:defRPr sz="2000"/>
            </a:pPr>
            <a:endParaRPr lang="en-US" dirty="0"/>
          </a:p>
          <a:p>
            <a:pPr>
              <a:defRPr sz="2000"/>
            </a:pPr>
            <a:r>
              <a:rPr lang="en-US" dirty="0"/>
              <a:t>https://www.youtube.com/watch?v=4VqmGXwpLqc</a:t>
            </a:r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Merge Sort –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2000"/>
            </a:pPr>
            <a:r>
              <a:t>Best: O(n log n)</a:t>
            </a:r>
          </a:p>
          <a:p>
            <a:pPr>
              <a:defRPr sz="2000"/>
            </a:pPr>
            <a:r>
              <a:t>Average: O(n log n)</a:t>
            </a:r>
          </a:p>
          <a:p>
            <a:pPr>
              <a:defRPr sz="2000"/>
            </a:pPr>
            <a:r>
              <a:t>Worst: O(n log n)</a:t>
            </a:r>
          </a:p>
          <a:p>
            <a:pPr>
              <a:defRPr sz="2000"/>
            </a:pPr>
            <a:r>
              <a:t>Space: O(n)</a:t>
            </a:r>
          </a:p>
          <a:p>
            <a:pPr>
              <a:defRPr sz="2000"/>
            </a:pPr>
            <a:r>
              <a:t>Stable: Yes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3C6EF4-E279-B460-B261-3DC102A110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50B06B-35C2-7CB4-67DB-02C9C5F7AE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2972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0A1C25-36EB-FA59-84D0-B52EBC1C8D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Complexity of Lists</a:t>
            </a:r>
          </a:p>
        </p:txBody>
      </p:sp>
    </p:spTree>
    <p:extLst>
      <p:ext uri="{BB962C8B-B14F-4D97-AF65-F5344CB8AC3E}">
        <p14:creationId xmlns:p14="http://schemas.microsoft.com/office/powerpoint/2010/main" val="29233378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BE2A62-CC9F-A629-8F20-2D2A210E8A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Complexity of Dictionaries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828950-BF77-AFE4-290F-4B97A45317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56478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Quick Sort – How it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2000"/>
            </a:pPr>
            <a:r>
              <a:t>Choose a pivot</a:t>
            </a:r>
          </a:p>
          <a:p>
            <a:pPr>
              <a:defRPr sz="2000"/>
            </a:pPr>
            <a:r>
              <a:t>Partition into &lt; pivot, ≥ pivot</a:t>
            </a:r>
          </a:p>
          <a:p>
            <a:pPr>
              <a:defRPr sz="2000"/>
            </a:pPr>
            <a:r>
              <a:t>Recursively sort partitions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Quick Sort –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2000"/>
            </a:pPr>
            <a:r>
              <a:t>Best: O(n log n)</a:t>
            </a:r>
          </a:p>
          <a:p>
            <a:pPr>
              <a:defRPr sz="2000"/>
            </a:pPr>
            <a:r>
              <a:t>Average: O(n log n)</a:t>
            </a:r>
          </a:p>
          <a:p>
            <a:pPr>
              <a:defRPr sz="2000"/>
            </a:pPr>
            <a:r>
              <a:t>Worst: O(n²) (bad pivots)</a:t>
            </a:r>
          </a:p>
          <a:p>
            <a:pPr>
              <a:defRPr sz="2000"/>
            </a:pPr>
            <a:r>
              <a:t>Space: O(log n) recursion</a:t>
            </a:r>
          </a:p>
          <a:p>
            <a:pPr>
              <a:defRPr sz="2000"/>
            </a:pPr>
            <a:r>
              <a:t>Stable: No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Heap Sort – How it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2000"/>
            </a:pPr>
            <a:r>
              <a:t>Build a max-heap</a:t>
            </a:r>
          </a:p>
          <a:p>
            <a:pPr>
              <a:defRPr sz="2000"/>
            </a:pPr>
            <a:r>
              <a:t>Repeatedly extract max, rebuild heap</a:t>
            </a:r>
          </a:p>
          <a:p>
            <a:pPr>
              <a:defRPr sz="2000"/>
            </a:pPr>
            <a:r>
              <a:t>Produces sorted array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Heap Sort –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2000"/>
            </a:pPr>
            <a:r>
              <a:t>Best: O(n log n)</a:t>
            </a:r>
          </a:p>
          <a:p>
            <a:pPr>
              <a:defRPr sz="2000"/>
            </a:pPr>
            <a:r>
              <a:t>Average: O(n log n)</a:t>
            </a:r>
          </a:p>
          <a:p>
            <a:pPr>
              <a:defRPr sz="2000"/>
            </a:pPr>
            <a:r>
              <a:t>Worst: O(n log n)</a:t>
            </a:r>
          </a:p>
          <a:p>
            <a:pPr>
              <a:defRPr sz="2000"/>
            </a:pPr>
            <a:r>
              <a:t>Space: O(1)</a:t>
            </a:r>
          </a:p>
          <a:p>
            <a:pPr>
              <a:defRPr sz="2000"/>
            </a:pPr>
            <a:r>
              <a:t>Stable: No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2000"/>
            </a:pPr>
            <a:r>
              <a:t>Quadratic sorts (Bubble, Selection, Insertion): simple but slow</a:t>
            </a:r>
          </a:p>
          <a:p>
            <a:pPr>
              <a:defRPr sz="2000"/>
            </a:pPr>
            <a:r>
              <a:t>Divide-and-conquer (Merge, Quick): fast, widely used</a:t>
            </a:r>
          </a:p>
          <a:p>
            <a:pPr>
              <a:defRPr sz="2000"/>
            </a:pPr>
            <a:r>
              <a:t>Heap Sort: good theoretical guarantee, less common in practice</a:t>
            </a:r>
          </a:p>
          <a:p>
            <a:pPr>
              <a:defRPr sz="2000"/>
            </a:pPr>
            <a:r>
              <a:t>Choice depends on input size, stability, memory constraints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A2C6634-31FA-6C6C-0DE6-FC6AC2451B8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95702713"/>
              </p:ext>
            </p:extLst>
          </p:nvPr>
        </p:nvGraphicFramePr>
        <p:xfrm>
          <a:off x="359858" y="329220"/>
          <a:ext cx="8512770" cy="4763742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991829">
                  <a:extLst>
                    <a:ext uri="{9D8B030D-6E8A-4147-A177-3AD203B41FA5}">
                      <a16:colId xmlns:a16="http://schemas.microsoft.com/office/drawing/2014/main" val="3720984476"/>
                    </a:ext>
                  </a:extLst>
                </a:gridCol>
                <a:gridCol w="624597">
                  <a:extLst>
                    <a:ext uri="{9D8B030D-6E8A-4147-A177-3AD203B41FA5}">
                      <a16:colId xmlns:a16="http://schemas.microsoft.com/office/drawing/2014/main" val="1232354733"/>
                    </a:ext>
                  </a:extLst>
                </a:gridCol>
                <a:gridCol w="873104">
                  <a:extLst>
                    <a:ext uri="{9D8B030D-6E8A-4147-A177-3AD203B41FA5}">
                      <a16:colId xmlns:a16="http://schemas.microsoft.com/office/drawing/2014/main" val="3614482744"/>
                    </a:ext>
                  </a:extLst>
                </a:gridCol>
                <a:gridCol w="855407">
                  <a:extLst>
                    <a:ext uri="{9D8B030D-6E8A-4147-A177-3AD203B41FA5}">
                      <a16:colId xmlns:a16="http://schemas.microsoft.com/office/drawing/2014/main" val="262876513"/>
                    </a:ext>
                  </a:extLst>
                </a:gridCol>
                <a:gridCol w="589935">
                  <a:extLst>
                    <a:ext uri="{9D8B030D-6E8A-4147-A177-3AD203B41FA5}">
                      <a16:colId xmlns:a16="http://schemas.microsoft.com/office/drawing/2014/main" val="3152896705"/>
                    </a:ext>
                  </a:extLst>
                </a:gridCol>
                <a:gridCol w="707923">
                  <a:extLst>
                    <a:ext uri="{9D8B030D-6E8A-4147-A177-3AD203B41FA5}">
                      <a16:colId xmlns:a16="http://schemas.microsoft.com/office/drawing/2014/main" val="2016076916"/>
                    </a:ext>
                  </a:extLst>
                </a:gridCol>
                <a:gridCol w="660728">
                  <a:extLst>
                    <a:ext uri="{9D8B030D-6E8A-4147-A177-3AD203B41FA5}">
                      <a16:colId xmlns:a16="http://schemas.microsoft.com/office/drawing/2014/main" val="2295266073"/>
                    </a:ext>
                  </a:extLst>
                </a:gridCol>
                <a:gridCol w="3209247">
                  <a:extLst>
                    <a:ext uri="{9D8B030D-6E8A-4147-A177-3AD203B41FA5}">
                      <a16:colId xmlns:a16="http://schemas.microsoft.com/office/drawing/2014/main" val="418213516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1600" b="1" dirty="0"/>
                        <a:t>Algorithm</a:t>
                      </a:r>
                    </a:p>
                  </a:txBody>
                  <a:tcPr marL="27767" marR="27767" marT="13883" marB="13883" anchor="ctr"/>
                </a:tc>
                <a:tc>
                  <a:txBody>
                    <a:bodyPr/>
                    <a:lstStyle/>
                    <a:p>
                      <a:r>
                        <a:rPr lang="en-US" sz="1600" b="1" dirty="0"/>
                        <a:t>Best Case</a:t>
                      </a:r>
                    </a:p>
                  </a:txBody>
                  <a:tcPr marL="27767" marR="27767" marT="13883" marB="13883" anchor="ctr"/>
                </a:tc>
                <a:tc>
                  <a:txBody>
                    <a:bodyPr/>
                    <a:lstStyle/>
                    <a:p>
                      <a:r>
                        <a:rPr lang="en-US" sz="1600" b="1" dirty="0"/>
                        <a:t>Average Case</a:t>
                      </a:r>
                    </a:p>
                  </a:txBody>
                  <a:tcPr marL="27767" marR="27767" marT="13883" marB="13883" anchor="ctr"/>
                </a:tc>
                <a:tc>
                  <a:txBody>
                    <a:bodyPr/>
                    <a:lstStyle/>
                    <a:p>
                      <a:r>
                        <a:rPr lang="en-US" sz="1600" b="1" dirty="0"/>
                        <a:t>Worst Case</a:t>
                      </a:r>
                    </a:p>
                  </a:txBody>
                  <a:tcPr marL="27767" marR="27767" marT="13883" marB="13883" anchor="ctr"/>
                </a:tc>
                <a:tc>
                  <a:txBody>
                    <a:bodyPr/>
                    <a:lstStyle/>
                    <a:p>
                      <a:r>
                        <a:rPr lang="en-US" sz="1600" b="1" dirty="0"/>
                        <a:t>In-Place</a:t>
                      </a:r>
                    </a:p>
                  </a:txBody>
                  <a:tcPr marL="27767" marR="27767" marT="13883" marB="13883" anchor="ctr"/>
                </a:tc>
                <a:tc>
                  <a:txBody>
                    <a:bodyPr/>
                    <a:lstStyle/>
                    <a:p>
                      <a:r>
                        <a:rPr lang="en-US" sz="1600" b="1" dirty="0"/>
                        <a:t>Extra Space</a:t>
                      </a:r>
                    </a:p>
                  </a:txBody>
                  <a:tcPr marL="27767" marR="27767" marT="13883" marB="13883" anchor="ctr"/>
                </a:tc>
                <a:tc>
                  <a:txBody>
                    <a:bodyPr/>
                    <a:lstStyle/>
                    <a:p>
                      <a:r>
                        <a:rPr lang="en-US" sz="1600" b="1" dirty="0"/>
                        <a:t>Stable</a:t>
                      </a:r>
                    </a:p>
                  </a:txBody>
                  <a:tcPr marL="27767" marR="27767" marT="13883" marB="13883" anchor="ctr"/>
                </a:tc>
                <a:tc>
                  <a:txBody>
                    <a:bodyPr/>
                    <a:lstStyle/>
                    <a:p>
                      <a:r>
                        <a:rPr lang="en-US" sz="1600" b="1" dirty="0"/>
                        <a:t>Notes</a:t>
                      </a:r>
                    </a:p>
                  </a:txBody>
                  <a:tcPr marL="27767" marR="27767" marT="13883" marB="13883" anchor="ctr"/>
                </a:tc>
                <a:extLst>
                  <a:ext uri="{0D108BD9-81ED-4DB2-BD59-A6C34878D82A}">
                    <a16:rowId xmlns:a16="http://schemas.microsoft.com/office/drawing/2014/main" val="336370406"/>
                  </a:ext>
                </a:extLst>
              </a:tr>
              <a:tr h="694166">
                <a:tc>
                  <a:txBody>
                    <a:bodyPr/>
                    <a:lstStyle/>
                    <a:p>
                      <a:r>
                        <a:rPr lang="en-US" sz="1600" b="1"/>
                        <a:t>Bubble Sort</a:t>
                      </a:r>
                      <a:endParaRPr lang="en-US" sz="1600"/>
                    </a:p>
                  </a:txBody>
                  <a:tcPr marL="27767" marR="27767" marT="13883" marB="13883"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O(n)</a:t>
                      </a:r>
                    </a:p>
                  </a:txBody>
                  <a:tcPr marL="27767" marR="27767" marT="13883" marB="13883"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O(n²)</a:t>
                      </a:r>
                    </a:p>
                  </a:txBody>
                  <a:tcPr marL="27767" marR="27767" marT="13883" marB="13883"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O(n²)</a:t>
                      </a:r>
                    </a:p>
                  </a:txBody>
                  <a:tcPr marL="27767" marR="27767" marT="13883" marB="13883"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Yes</a:t>
                      </a:r>
                    </a:p>
                  </a:txBody>
                  <a:tcPr marL="27767" marR="27767" marT="13883" marB="13883"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O(1)</a:t>
                      </a:r>
                    </a:p>
                  </a:txBody>
                  <a:tcPr marL="27767" marR="27767" marT="13883" marB="13883"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Yes</a:t>
                      </a:r>
                    </a:p>
                  </a:txBody>
                  <a:tcPr marL="27767" marR="27767" marT="13883" marB="13883"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Only useful pedagogically; preserves equal items’ order.</a:t>
                      </a:r>
                    </a:p>
                  </a:txBody>
                  <a:tcPr marL="27767" marR="27767" marT="13883" marB="13883" anchor="ctr"/>
                </a:tc>
                <a:extLst>
                  <a:ext uri="{0D108BD9-81ED-4DB2-BD59-A6C34878D82A}">
                    <a16:rowId xmlns:a16="http://schemas.microsoft.com/office/drawing/2014/main" val="646302499"/>
                  </a:ext>
                </a:extLst>
              </a:tr>
              <a:tr h="777466">
                <a:tc>
                  <a:txBody>
                    <a:bodyPr/>
                    <a:lstStyle/>
                    <a:p>
                      <a:r>
                        <a:rPr lang="en-US" sz="1600" b="1"/>
                        <a:t>Selection Sort</a:t>
                      </a:r>
                      <a:endParaRPr lang="en-US" sz="1600"/>
                    </a:p>
                  </a:txBody>
                  <a:tcPr marL="27767" marR="27767" marT="13883" marB="13883"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O(n²)</a:t>
                      </a:r>
                    </a:p>
                  </a:txBody>
                  <a:tcPr marL="27767" marR="27767" marT="13883" marB="13883"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O(n²)</a:t>
                      </a:r>
                    </a:p>
                  </a:txBody>
                  <a:tcPr marL="27767" marR="27767" marT="13883" marB="13883"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O(n²)</a:t>
                      </a:r>
                    </a:p>
                  </a:txBody>
                  <a:tcPr marL="27767" marR="27767" marT="13883" marB="13883"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Yes</a:t>
                      </a:r>
                    </a:p>
                  </a:txBody>
                  <a:tcPr marL="27767" marR="27767" marT="13883" marB="13883"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O(1)</a:t>
                      </a:r>
                    </a:p>
                  </a:txBody>
                  <a:tcPr marL="27767" marR="27767" marT="13883" marB="13883"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No</a:t>
                      </a:r>
                    </a:p>
                  </a:txBody>
                  <a:tcPr marL="27767" marR="27767" marT="13883" marB="13883"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Chooses minimum and swaps; can break equal items’ order.</a:t>
                      </a:r>
                    </a:p>
                  </a:txBody>
                  <a:tcPr marL="27767" marR="27767" marT="13883" marB="13883" anchor="ctr"/>
                </a:tc>
                <a:extLst>
                  <a:ext uri="{0D108BD9-81ED-4DB2-BD59-A6C34878D82A}">
                    <a16:rowId xmlns:a16="http://schemas.microsoft.com/office/drawing/2014/main" val="1721540392"/>
                  </a:ext>
                </a:extLst>
              </a:tr>
              <a:tr h="610866">
                <a:tc>
                  <a:txBody>
                    <a:bodyPr/>
                    <a:lstStyle/>
                    <a:p>
                      <a:r>
                        <a:rPr lang="en-US" sz="1600" b="1"/>
                        <a:t>Insertion Sort</a:t>
                      </a:r>
                      <a:endParaRPr lang="en-US" sz="1600"/>
                    </a:p>
                  </a:txBody>
                  <a:tcPr marL="27767" marR="27767" marT="13883" marB="13883"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O(n)</a:t>
                      </a:r>
                    </a:p>
                  </a:txBody>
                  <a:tcPr marL="27767" marR="27767" marT="13883" marB="13883"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O(n²)</a:t>
                      </a:r>
                    </a:p>
                  </a:txBody>
                  <a:tcPr marL="27767" marR="27767" marT="13883" marB="13883"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O(n²)</a:t>
                      </a:r>
                    </a:p>
                  </a:txBody>
                  <a:tcPr marL="27767" marR="27767" marT="13883" marB="13883"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Yes</a:t>
                      </a:r>
                    </a:p>
                  </a:txBody>
                  <a:tcPr marL="27767" marR="27767" marT="13883" marB="13883"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O(1)</a:t>
                      </a:r>
                    </a:p>
                  </a:txBody>
                  <a:tcPr marL="27767" marR="27767" marT="13883" marB="13883"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Yes</a:t>
                      </a:r>
                    </a:p>
                  </a:txBody>
                  <a:tcPr marL="27767" marR="27767" marT="13883" marB="13883"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Efficient on small/nearly-sorted arrays; stable.</a:t>
                      </a:r>
                    </a:p>
                  </a:txBody>
                  <a:tcPr marL="27767" marR="27767" marT="13883" marB="13883" anchor="ctr"/>
                </a:tc>
                <a:extLst>
                  <a:ext uri="{0D108BD9-81ED-4DB2-BD59-A6C34878D82A}">
                    <a16:rowId xmlns:a16="http://schemas.microsoft.com/office/drawing/2014/main" val="878419508"/>
                  </a:ext>
                </a:extLst>
              </a:tr>
              <a:tr h="777466">
                <a:tc>
                  <a:txBody>
                    <a:bodyPr/>
                    <a:lstStyle/>
                    <a:p>
                      <a:r>
                        <a:rPr lang="en-US" sz="1600" b="1"/>
                        <a:t>Merge Sort</a:t>
                      </a:r>
                      <a:endParaRPr lang="en-US" sz="1600"/>
                    </a:p>
                  </a:txBody>
                  <a:tcPr marL="27767" marR="27767" marT="13883" marB="13883"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O(n log n)</a:t>
                      </a:r>
                    </a:p>
                  </a:txBody>
                  <a:tcPr marL="27767" marR="27767" marT="13883" marB="13883"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O(n log n)</a:t>
                      </a:r>
                    </a:p>
                  </a:txBody>
                  <a:tcPr marL="27767" marR="27767" marT="13883" marB="13883"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O(n log n)</a:t>
                      </a:r>
                    </a:p>
                  </a:txBody>
                  <a:tcPr marL="27767" marR="27767" marT="13883" marB="13883"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No</a:t>
                      </a:r>
                    </a:p>
                  </a:txBody>
                  <a:tcPr marL="27767" marR="27767" marT="13883" marB="13883"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O(n)</a:t>
                      </a:r>
                    </a:p>
                  </a:txBody>
                  <a:tcPr marL="27767" marR="27767" marT="13883" marB="13883"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Yes</a:t>
                      </a:r>
                    </a:p>
                  </a:txBody>
                  <a:tcPr marL="27767" marR="27767" marT="13883" marB="13883"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Stable; great for linked lists; array version needs O(n) space.</a:t>
                      </a:r>
                    </a:p>
                  </a:txBody>
                  <a:tcPr marL="27767" marR="27767" marT="13883" marB="13883" anchor="ctr"/>
                </a:tc>
                <a:extLst>
                  <a:ext uri="{0D108BD9-81ED-4DB2-BD59-A6C34878D82A}">
                    <a16:rowId xmlns:a16="http://schemas.microsoft.com/office/drawing/2014/main" val="1181336855"/>
                  </a:ext>
                </a:extLst>
              </a:tr>
              <a:tr h="777466">
                <a:tc>
                  <a:txBody>
                    <a:bodyPr/>
                    <a:lstStyle/>
                    <a:p>
                      <a:r>
                        <a:rPr lang="en-US" sz="1600" b="1"/>
                        <a:t>Quick Sort</a:t>
                      </a:r>
                      <a:endParaRPr lang="en-US" sz="1600"/>
                    </a:p>
                  </a:txBody>
                  <a:tcPr marL="27767" marR="27767" marT="13883" marB="13883"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O(n log n)</a:t>
                      </a:r>
                    </a:p>
                  </a:txBody>
                  <a:tcPr marL="27767" marR="27767" marT="13883" marB="13883"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O(n log n)</a:t>
                      </a:r>
                    </a:p>
                  </a:txBody>
                  <a:tcPr marL="27767" marR="27767" marT="13883" marB="13883"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O(n²)</a:t>
                      </a:r>
                    </a:p>
                  </a:txBody>
                  <a:tcPr marL="27767" marR="27767" marT="13883" marB="13883"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Yes*</a:t>
                      </a:r>
                    </a:p>
                  </a:txBody>
                  <a:tcPr marL="27767" marR="27767" marT="13883" marB="13883"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O(log n)</a:t>
                      </a:r>
                    </a:p>
                  </a:txBody>
                  <a:tcPr marL="27767" marR="27767" marT="13883" marB="13883"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No</a:t>
                      </a:r>
                    </a:p>
                  </a:txBody>
                  <a:tcPr marL="27767" marR="27767" marT="13883" marB="13883"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Partition is not stable; but fast in practice with random pivot.</a:t>
                      </a:r>
                    </a:p>
                  </a:txBody>
                  <a:tcPr marL="27767" marR="27767" marT="13883" marB="13883" anchor="ctr"/>
                </a:tc>
                <a:extLst>
                  <a:ext uri="{0D108BD9-81ED-4DB2-BD59-A6C34878D82A}">
                    <a16:rowId xmlns:a16="http://schemas.microsoft.com/office/drawing/2014/main" val="2259168586"/>
                  </a:ext>
                </a:extLst>
              </a:tr>
              <a:tr h="610866">
                <a:tc>
                  <a:txBody>
                    <a:bodyPr/>
                    <a:lstStyle/>
                    <a:p>
                      <a:r>
                        <a:rPr lang="en-US" sz="1600" b="1"/>
                        <a:t>Heap Sort</a:t>
                      </a:r>
                      <a:endParaRPr lang="en-US" sz="1600"/>
                    </a:p>
                  </a:txBody>
                  <a:tcPr marL="27767" marR="27767" marT="13883" marB="13883"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O(n log n)</a:t>
                      </a:r>
                    </a:p>
                  </a:txBody>
                  <a:tcPr marL="27767" marR="27767" marT="13883" marB="13883"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O(n log n)</a:t>
                      </a:r>
                    </a:p>
                  </a:txBody>
                  <a:tcPr marL="27767" marR="27767" marT="13883" marB="13883"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O(n log n)</a:t>
                      </a:r>
                    </a:p>
                  </a:txBody>
                  <a:tcPr marL="27767" marR="27767" marT="13883" marB="13883"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Yes</a:t>
                      </a:r>
                    </a:p>
                  </a:txBody>
                  <a:tcPr marL="27767" marR="27767" marT="13883" marB="13883"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O(1)</a:t>
                      </a:r>
                    </a:p>
                  </a:txBody>
                  <a:tcPr marL="27767" marR="27767" marT="13883" marB="13883"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No</a:t>
                      </a:r>
                    </a:p>
                  </a:txBody>
                  <a:tcPr marL="27767" marR="27767" marT="13883" marB="13883"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Not stable; but gives O(n log n) even in worst case.</a:t>
                      </a:r>
                    </a:p>
                  </a:txBody>
                  <a:tcPr marL="27767" marR="27767" marT="13883" marB="13883" anchor="ctr"/>
                </a:tc>
                <a:extLst>
                  <a:ext uri="{0D108BD9-81ED-4DB2-BD59-A6C34878D82A}">
                    <a16:rowId xmlns:a16="http://schemas.microsoft.com/office/drawing/2014/main" val="21029252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543599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FA374B-7716-B01C-8C10-BC376E4121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29EB1E8-754A-08F6-86F9-740642ECB8E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81261749"/>
              </p:ext>
            </p:extLst>
          </p:nvPr>
        </p:nvGraphicFramePr>
        <p:xfrm>
          <a:off x="359858" y="329220"/>
          <a:ext cx="8512770" cy="3375410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991829">
                  <a:extLst>
                    <a:ext uri="{9D8B030D-6E8A-4147-A177-3AD203B41FA5}">
                      <a16:colId xmlns:a16="http://schemas.microsoft.com/office/drawing/2014/main" val="3720984476"/>
                    </a:ext>
                  </a:extLst>
                </a:gridCol>
                <a:gridCol w="624597">
                  <a:extLst>
                    <a:ext uri="{9D8B030D-6E8A-4147-A177-3AD203B41FA5}">
                      <a16:colId xmlns:a16="http://schemas.microsoft.com/office/drawing/2014/main" val="1232354733"/>
                    </a:ext>
                  </a:extLst>
                </a:gridCol>
                <a:gridCol w="873104">
                  <a:extLst>
                    <a:ext uri="{9D8B030D-6E8A-4147-A177-3AD203B41FA5}">
                      <a16:colId xmlns:a16="http://schemas.microsoft.com/office/drawing/2014/main" val="3614482744"/>
                    </a:ext>
                  </a:extLst>
                </a:gridCol>
                <a:gridCol w="855407">
                  <a:extLst>
                    <a:ext uri="{9D8B030D-6E8A-4147-A177-3AD203B41FA5}">
                      <a16:colId xmlns:a16="http://schemas.microsoft.com/office/drawing/2014/main" val="262876513"/>
                    </a:ext>
                  </a:extLst>
                </a:gridCol>
                <a:gridCol w="589935">
                  <a:extLst>
                    <a:ext uri="{9D8B030D-6E8A-4147-A177-3AD203B41FA5}">
                      <a16:colId xmlns:a16="http://schemas.microsoft.com/office/drawing/2014/main" val="3152896705"/>
                    </a:ext>
                  </a:extLst>
                </a:gridCol>
                <a:gridCol w="707923">
                  <a:extLst>
                    <a:ext uri="{9D8B030D-6E8A-4147-A177-3AD203B41FA5}">
                      <a16:colId xmlns:a16="http://schemas.microsoft.com/office/drawing/2014/main" val="2016076916"/>
                    </a:ext>
                  </a:extLst>
                </a:gridCol>
                <a:gridCol w="660728">
                  <a:extLst>
                    <a:ext uri="{9D8B030D-6E8A-4147-A177-3AD203B41FA5}">
                      <a16:colId xmlns:a16="http://schemas.microsoft.com/office/drawing/2014/main" val="2295266073"/>
                    </a:ext>
                  </a:extLst>
                </a:gridCol>
                <a:gridCol w="3209247">
                  <a:extLst>
                    <a:ext uri="{9D8B030D-6E8A-4147-A177-3AD203B41FA5}">
                      <a16:colId xmlns:a16="http://schemas.microsoft.com/office/drawing/2014/main" val="418213516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1600" b="1" dirty="0"/>
                        <a:t>Algorithm</a:t>
                      </a:r>
                    </a:p>
                  </a:txBody>
                  <a:tcPr marL="27767" marR="27767" marT="13883" marB="13883" anchor="ctr"/>
                </a:tc>
                <a:tc>
                  <a:txBody>
                    <a:bodyPr/>
                    <a:lstStyle/>
                    <a:p>
                      <a:r>
                        <a:rPr lang="en-US" sz="1600" b="1" dirty="0"/>
                        <a:t>Best Case</a:t>
                      </a:r>
                    </a:p>
                  </a:txBody>
                  <a:tcPr marL="27767" marR="27767" marT="13883" marB="13883" anchor="ctr"/>
                </a:tc>
                <a:tc>
                  <a:txBody>
                    <a:bodyPr/>
                    <a:lstStyle/>
                    <a:p>
                      <a:r>
                        <a:rPr lang="en-US" sz="1600" b="1" dirty="0"/>
                        <a:t>Average Case</a:t>
                      </a:r>
                    </a:p>
                  </a:txBody>
                  <a:tcPr marL="27767" marR="27767" marT="13883" marB="13883" anchor="ctr"/>
                </a:tc>
                <a:tc>
                  <a:txBody>
                    <a:bodyPr/>
                    <a:lstStyle/>
                    <a:p>
                      <a:r>
                        <a:rPr lang="en-US" sz="1600" b="1" dirty="0"/>
                        <a:t>Worst Case</a:t>
                      </a:r>
                    </a:p>
                  </a:txBody>
                  <a:tcPr marL="27767" marR="27767" marT="13883" marB="13883" anchor="ctr"/>
                </a:tc>
                <a:tc>
                  <a:txBody>
                    <a:bodyPr/>
                    <a:lstStyle/>
                    <a:p>
                      <a:r>
                        <a:rPr lang="en-US" sz="1600" b="1" dirty="0"/>
                        <a:t>In-Place</a:t>
                      </a:r>
                    </a:p>
                  </a:txBody>
                  <a:tcPr marL="27767" marR="27767" marT="13883" marB="13883" anchor="ctr"/>
                </a:tc>
                <a:tc>
                  <a:txBody>
                    <a:bodyPr/>
                    <a:lstStyle/>
                    <a:p>
                      <a:r>
                        <a:rPr lang="en-US" sz="1600" b="1" dirty="0"/>
                        <a:t>Extra Space</a:t>
                      </a:r>
                    </a:p>
                  </a:txBody>
                  <a:tcPr marL="27767" marR="27767" marT="13883" marB="13883" anchor="ctr"/>
                </a:tc>
                <a:tc>
                  <a:txBody>
                    <a:bodyPr/>
                    <a:lstStyle/>
                    <a:p>
                      <a:r>
                        <a:rPr lang="en-US" sz="1600" b="1" dirty="0"/>
                        <a:t>Stable</a:t>
                      </a:r>
                    </a:p>
                  </a:txBody>
                  <a:tcPr marL="27767" marR="27767" marT="13883" marB="13883" anchor="ctr"/>
                </a:tc>
                <a:tc>
                  <a:txBody>
                    <a:bodyPr/>
                    <a:lstStyle/>
                    <a:p>
                      <a:r>
                        <a:rPr lang="en-US" sz="1600" b="1" dirty="0"/>
                        <a:t>Notes</a:t>
                      </a:r>
                    </a:p>
                  </a:txBody>
                  <a:tcPr marL="27767" marR="27767" marT="13883" marB="13883" anchor="ctr"/>
                </a:tc>
                <a:extLst>
                  <a:ext uri="{0D108BD9-81ED-4DB2-BD59-A6C34878D82A}">
                    <a16:rowId xmlns:a16="http://schemas.microsoft.com/office/drawing/2014/main" val="336370406"/>
                  </a:ext>
                </a:extLst>
              </a:tr>
              <a:tr h="694166">
                <a:tc>
                  <a:txBody>
                    <a:bodyPr/>
                    <a:lstStyle/>
                    <a:p>
                      <a:r>
                        <a:rPr lang="en-US" sz="1600" b="1"/>
                        <a:t>Bubble Sort</a:t>
                      </a:r>
                      <a:endParaRPr lang="en-US" sz="1600"/>
                    </a:p>
                  </a:txBody>
                  <a:tcPr marL="27767" marR="27767" marT="13883" marB="13883"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O(n)</a:t>
                      </a:r>
                    </a:p>
                  </a:txBody>
                  <a:tcPr marL="27767" marR="27767" marT="13883" marB="13883"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O(n²)</a:t>
                      </a:r>
                    </a:p>
                  </a:txBody>
                  <a:tcPr marL="27767" marR="27767" marT="13883" marB="13883"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O(n²)</a:t>
                      </a:r>
                    </a:p>
                  </a:txBody>
                  <a:tcPr marL="27767" marR="27767" marT="13883" marB="13883"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Yes</a:t>
                      </a:r>
                    </a:p>
                  </a:txBody>
                  <a:tcPr marL="27767" marR="27767" marT="13883" marB="13883"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O(1)</a:t>
                      </a:r>
                    </a:p>
                  </a:txBody>
                  <a:tcPr marL="27767" marR="27767" marT="13883" marB="13883"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Yes</a:t>
                      </a:r>
                    </a:p>
                  </a:txBody>
                  <a:tcPr marL="27767" marR="27767" marT="13883" marB="13883"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Only useful pedagogically; preserves equal items’ order.</a:t>
                      </a:r>
                    </a:p>
                  </a:txBody>
                  <a:tcPr marL="27767" marR="27767" marT="13883" marB="13883" anchor="ctr"/>
                </a:tc>
                <a:extLst>
                  <a:ext uri="{0D108BD9-81ED-4DB2-BD59-A6C34878D82A}">
                    <a16:rowId xmlns:a16="http://schemas.microsoft.com/office/drawing/2014/main" val="646302499"/>
                  </a:ext>
                </a:extLst>
              </a:tr>
              <a:tr h="777466">
                <a:tc>
                  <a:txBody>
                    <a:bodyPr/>
                    <a:lstStyle/>
                    <a:p>
                      <a:r>
                        <a:rPr lang="en-US" sz="1600" b="1"/>
                        <a:t>Selection Sort</a:t>
                      </a:r>
                      <a:endParaRPr lang="en-US" sz="1600"/>
                    </a:p>
                  </a:txBody>
                  <a:tcPr marL="27767" marR="27767" marT="13883" marB="13883"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O(n²)</a:t>
                      </a:r>
                    </a:p>
                  </a:txBody>
                  <a:tcPr marL="27767" marR="27767" marT="13883" marB="13883"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O(n²)</a:t>
                      </a:r>
                    </a:p>
                  </a:txBody>
                  <a:tcPr marL="27767" marR="27767" marT="13883" marB="13883"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O(n²)</a:t>
                      </a:r>
                    </a:p>
                  </a:txBody>
                  <a:tcPr marL="27767" marR="27767" marT="13883" marB="13883"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Yes</a:t>
                      </a:r>
                    </a:p>
                  </a:txBody>
                  <a:tcPr marL="27767" marR="27767" marT="13883" marB="13883"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O(1)</a:t>
                      </a:r>
                    </a:p>
                  </a:txBody>
                  <a:tcPr marL="27767" marR="27767" marT="13883" marB="13883"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No</a:t>
                      </a:r>
                    </a:p>
                  </a:txBody>
                  <a:tcPr marL="27767" marR="27767" marT="13883" marB="13883"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Chooses minimum and swaps; can break equal items’ order.</a:t>
                      </a:r>
                    </a:p>
                  </a:txBody>
                  <a:tcPr marL="27767" marR="27767" marT="13883" marB="13883" anchor="ctr"/>
                </a:tc>
                <a:extLst>
                  <a:ext uri="{0D108BD9-81ED-4DB2-BD59-A6C34878D82A}">
                    <a16:rowId xmlns:a16="http://schemas.microsoft.com/office/drawing/2014/main" val="1721540392"/>
                  </a:ext>
                </a:extLst>
              </a:tr>
              <a:tr h="610866">
                <a:tc>
                  <a:txBody>
                    <a:bodyPr/>
                    <a:lstStyle/>
                    <a:p>
                      <a:r>
                        <a:rPr lang="en-US" sz="1600" b="1"/>
                        <a:t>Insertion Sort</a:t>
                      </a:r>
                      <a:endParaRPr lang="en-US" sz="1600"/>
                    </a:p>
                  </a:txBody>
                  <a:tcPr marL="27767" marR="27767" marT="13883" marB="13883"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O(n)</a:t>
                      </a:r>
                    </a:p>
                  </a:txBody>
                  <a:tcPr marL="27767" marR="27767" marT="13883" marB="13883"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O(n²)</a:t>
                      </a:r>
                    </a:p>
                  </a:txBody>
                  <a:tcPr marL="27767" marR="27767" marT="13883" marB="13883"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O(n²)</a:t>
                      </a:r>
                    </a:p>
                  </a:txBody>
                  <a:tcPr marL="27767" marR="27767" marT="13883" marB="13883"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Yes</a:t>
                      </a:r>
                    </a:p>
                  </a:txBody>
                  <a:tcPr marL="27767" marR="27767" marT="13883" marB="13883"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O(1)</a:t>
                      </a:r>
                    </a:p>
                  </a:txBody>
                  <a:tcPr marL="27767" marR="27767" marT="13883" marB="13883"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Yes</a:t>
                      </a:r>
                    </a:p>
                  </a:txBody>
                  <a:tcPr marL="27767" marR="27767" marT="13883" marB="13883"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Efficient on small/nearly-sorted arrays; stable.</a:t>
                      </a:r>
                    </a:p>
                  </a:txBody>
                  <a:tcPr marL="27767" marR="27767" marT="13883" marB="13883" anchor="ctr"/>
                </a:tc>
                <a:extLst>
                  <a:ext uri="{0D108BD9-81ED-4DB2-BD59-A6C34878D82A}">
                    <a16:rowId xmlns:a16="http://schemas.microsoft.com/office/drawing/2014/main" val="878419508"/>
                  </a:ext>
                </a:extLst>
              </a:tr>
              <a:tr h="777466">
                <a:tc>
                  <a:txBody>
                    <a:bodyPr/>
                    <a:lstStyle/>
                    <a:p>
                      <a:r>
                        <a:rPr lang="en-US" sz="1600" b="1"/>
                        <a:t>Merge Sort</a:t>
                      </a:r>
                      <a:endParaRPr lang="en-US" sz="1600"/>
                    </a:p>
                  </a:txBody>
                  <a:tcPr marL="27767" marR="27767" marT="13883" marB="13883"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O(n log n)</a:t>
                      </a:r>
                    </a:p>
                  </a:txBody>
                  <a:tcPr marL="27767" marR="27767" marT="13883" marB="13883"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O(n log n)</a:t>
                      </a:r>
                    </a:p>
                  </a:txBody>
                  <a:tcPr marL="27767" marR="27767" marT="13883" marB="13883"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O(n log n)</a:t>
                      </a:r>
                    </a:p>
                  </a:txBody>
                  <a:tcPr marL="27767" marR="27767" marT="13883" marB="13883"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No</a:t>
                      </a:r>
                    </a:p>
                  </a:txBody>
                  <a:tcPr marL="27767" marR="27767" marT="13883" marB="13883"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O(n)</a:t>
                      </a:r>
                    </a:p>
                  </a:txBody>
                  <a:tcPr marL="27767" marR="27767" marT="13883" marB="13883"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Yes</a:t>
                      </a:r>
                    </a:p>
                  </a:txBody>
                  <a:tcPr marL="27767" marR="27767" marT="13883" marB="13883"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Stable; great for linked lists; array version needs O(n) space.</a:t>
                      </a:r>
                    </a:p>
                  </a:txBody>
                  <a:tcPr marL="27767" marR="27767" marT="13883" marB="13883" anchor="ctr"/>
                </a:tc>
                <a:extLst>
                  <a:ext uri="{0D108BD9-81ED-4DB2-BD59-A6C34878D82A}">
                    <a16:rowId xmlns:a16="http://schemas.microsoft.com/office/drawing/2014/main" val="11813368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100962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404</TotalTime>
  <Words>828</Words>
  <Application>Microsoft Office PowerPoint</Application>
  <PresentationFormat>On-screen Show (4:3)</PresentationFormat>
  <Paragraphs>192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Sorting Strategies: Comparison-Based Sorts</vt:lpstr>
      <vt:lpstr>Bubble Sort – How it Works</vt:lpstr>
      <vt:lpstr>Bubble Sort – Analysis</vt:lpstr>
      <vt:lpstr>Selection Sort – How it Works</vt:lpstr>
      <vt:lpstr>Selection Sort – Analysis</vt:lpstr>
      <vt:lpstr>Insertion Sort – How it Works</vt:lpstr>
      <vt:lpstr>Insertion Sort – Analysis</vt:lpstr>
      <vt:lpstr>Merge Sort – How it Works</vt:lpstr>
      <vt:lpstr>Merge Sort – Analysis</vt:lpstr>
      <vt:lpstr>PowerPoint Presentation</vt:lpstr>
      <vt:lpstr>Complexity of Lists</vt:lpstr>
      <vt:lpstr>Complexity of Dictionaries</vt:lpstr>
      <vt:lpstr>Quick Sort – How it Works</vt:lpstr>
      <vt:lpstr>Quick Sort – Analysis</vt:lpstr>
      <vt:lpstr>Heap Sort – How it Works</vt:lpstr>
      <vt:lpstr>Heap Sort – Analysis</vt:lpstr>
      <vt:lpstr>Key Takeaways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Paul Regier</dc:creator>
  <cp:keywords/>
  <dc:description>generated using python-pptx</dc:description>
  <cp:lastModifiedBy>Paul Regier</cp:lastModifiedBy>
  <cp:revision>4</cp:revision>
  <dcterms:created xsi:type="dcterms:W3CDTF">2013-01-27T09:14:16Z</dcterms:created>
  <dcterms:modified xsi:type="dcterms:W3CDTF">2025-09-25T18:41:55Z</dcterms:modified>
  <cp:category/>
</cp:coreProperties>
</file>