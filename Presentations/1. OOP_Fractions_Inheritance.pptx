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2"/>
  </p:notesMasterIdLst>
  <p:sldIdLst>
    <p:sldId id="256" r:id="rId2"/>
    <p:sldId id="257" r:id="rId3"/>
    <p:sldId id="272" r:id="rId4"/>
    <p:sldId id="259" r:id="rId5"/>
    <p:sldId id="258" r:id="rId6"/>
    <p:sldId id="269" r:id="rId7"/>
    <p:sldId id="270" r:id="rId8"/>
    <p:sldId id="273" r:id="rId9"/>
    <p:sldId id="271" r:id="rId10"/>
    <p:sldId id="260" r:id="rId11"/>
    <p:sldId id="261" r:id="rId12"/>
    <p:sldId id="274" r:id="rId13"/>
    <p:sldId id="275" r:id="rId14"/>
    <p:sldId id="262" r:id="rId15"/>
    <p:sldId id="263" r:id="rId16"/>
    <p:sldId id="264" r:id="rId17"/>
    <p:sldId id="265" r:id="rId18"/>
    <p:sldId id="266" r:id="rId19"/>
    <p:sldId id="267" r:id="rId20"/>
    <p:sldId id="268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32"/>
    <p:restoredTop sz="94663"/>
  </p:normalViewPr>
  <p:slideViewPr>
    <p:cSldViewPr snapToGrid="0" snapToObjects="1">
      <p:cViewPr varScale="1">
        <p:scale>
          <a:sx n="132" d="100"/>
          <a:sy n="132" d="100"/>
        </p:scale>
        <p:origin x="1707" y="8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1275047-57EC-9748-B56E-D3FBB0BB491A}" type="datetimeFigureOut">
              <a:rPr lang="en-US" smtClean="0"/>
              <a:t>9/8/2025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AA00FF9-637D-AD4A-BBBC-228B3594FFF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918443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Python does not have a struct keyword like C, but namedtuple and dataclass serve as lightweight alternatives. They are useful for simple data containers, but classes add behavior (methods).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Fraction is the class. num and den are attributes. __init__ is the constructor.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Methods define the behavior of a class. __str__ gives string representation, __eq__ checks equality.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Add inherits from BinaryOperation. evaluate() is specialized behavior.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Combines OOP ideas: Fractions as objects, Operations as objects working on them.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9/8/2025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9/8/2025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9/8/2025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6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Introduction to Object-Oriented Programming (OOP)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Examples with Fractions &amp; Binary Operations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Why OOP?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dirty="0"/>
          </a:p>
          <a:p>
            <a:r>
              <a:rPr dirty="0"/>
              <a:t>Organize code into objects that bundle data + behavior</a:t>
            </a:r>
          </a:p>
          <a:p>
            <a:r>
              <a:rPr dirty="0"/>
              <a:t>Promotes reusability and readability</a:t>
            </a:r>
          </a:p>
          <a:p>
            <a:r>
              <a:rPr dirty="0"/>
              <a:t>Models real-world entities (Fractions, Operations, </a:t>
            </a:r>
            <a:r>
              <a:rPr lang="en-GB" dirty="0"/>
              <a:t>Students, Bank Accounts</a:t>
            </a:r>
            <a:r>
              <a:rPr dirty="0"/>
              <a:t>, etc.)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4BC217-5A64-6DC2-9D80-90B3A74A9B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Struct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9160A87-6EBA-A506-B965-26F0724F7BA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 </a:t>
            </a:r>
            <a:r>
              <a:rPr lang="en-US" b="1" dirty="0"/>
              <a:t>struct</a:t>
            </a:r>
            <a:r>
              <a:rPr lang="en-US" dirty="0"/>
              <a:t> (short for </a:t>
            </a:r>
            <a:r>
              <a:rPr lang="en-US" i="1" dirty="0"/>
              <a:t>structure</a:t>
            </a:r>
            <a:r>
              <a:rPr lang="en-US" dirty="0"/>
              <a:t>) is a </a:t>
            </a:r>
            <a:r>
              <a:rPr lang="en-US" b="1" dirty="0"/>
              <a:t>composite data type</a:t>
            </a:r>
            <a:r>
              <a:rPr lang="en-US" dirty="0"/>
              <a:t> that groups together variables (often of different types) under one name.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Purpose</a:t>
            </a:r>
            <a:r>
              <a:rPr lang="en-US" dirty="0"/>
              <a:t>: To hold related pieces of data together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Key idea</a:t>
            </a:r>
            <a:r>
              <a:rPr lang="en-US" dirty="0"/>
              <a:t>: Structs </a:t>
            </a:r>
            <a:r>
              <a:rPr lang="en-US" b="1" dirty="0"/>
              <a:t>only store data</a:t>
            </a:r>
            <a:r>
              <a:rPr lang="en-US" dirty="0"/>
              <a:t> — no associated methods (unlike classes in OOP)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Common in</a:t>
            </a:r>
            <a:r>
              <a:rPr lang="en-US" dirty="0"/>
              <a:t>: C, C++, Go, and other languages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3454242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GB" dirty="0"/>
              <a:t>Two ways to make</a:t>
            </a:r>
            <a:br>
              <a:rPr lang="en-GB" dirty="0"/>
            </a:br>
            <a:r>
              <a:rPr dirty="0"/>
              <a:t>Struct</a:t>
            </a:r>
            <a:r>
              <a:rPr lang="en-US" dirty="0"/>
              <a:t>s</a:t>
            </a:r>
            <a:r>
              <a:rPr dirty="0"/>
              <a:t>-like Data in Python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6186309" cy="40934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endParaRPr sz="2000" dirty="0"/>
          </a:p>
          <a:p>
            <a:pPr>
              <a:defRPr sz="1800">
                <a:latin typeface="Courier New"/>
              </a:defRPr>
            </a:pPr>
            <a:endParaRPr lang="en-GB" sz="2000" dirty="0"/>
          </a:p>
          <a:p>
            <a:pPr>
              <a:defRPr sz="1800">
                <a:latin typeface="Courier New"/>
              </a:defRPr>
            </a:pPr>
            <a:r>
              <a:rPr sz="2000" dirty="0"/>
              <a:t>from </a:t>
            </a:r>
            <a:r>
              <a:rPr sz="2000" b="1" dirty="0"/>
              <a:t>collections</a:t>
            </a:r>
            <a:r>
              <a:rPr sz="2000" dirty="0"/>
              <a:t> import </a:t>
            </a:r>
            <a:r>
              <a:rPr sz="2000" b="1" dirty="0" err="1"/>
              <a:t>namedtuple</a:t>
            </a:r>
            <a:br>
              <a:rPr sz="2000" dirty="0"/>
            </a:br>
            <a:r>
              <a:rPr sz="2000" dirty="0"/>
              <a:t>Point = </a:t>
            </a:r>
            <a:r>
              <a:rPr sz="2000" dirty="0" err="1"/>
              <a:t>namedtuple</a:t>
            </a:r>
            <a:r>
              <a:rPr sz="2000" dirty="0"/>
              <a:t>("Point", ["x", "y"])</a:t>
            </a:r>
            <a:br>
              <a:rPr sz="2000" dirty="0"/>
            </a:br>
            <a:r>
              <a:rPr sz="2000" dirty="0"/>
              <a:t>p = Point(2, 3)</a:t>
            </a:r>
            <a:br>
              <a:rPr sz="2000" dirty="0"/>
            </a:br>
            <a:endParaRPr lang="en-GB" sz="2000" dirty="0"/>
          </a:p>
          <a:p>
            <a:pPr>
              <a:defRPr sz="1800">
                <a:latin typeface="Courier New"/>
              </a:defRPr>
            </a:pPr>
            <a:endParaRPr lang="en-US" sz="2000" dirty="0"/>
          </a:p>
          <a:p>
            <a:pPr>
              <a:defRPr sz="1800">
                <a:latin typeface="Courier New"/>
              </a:defRPr>
            </a:pPr>
            <a:br>
              <a:rPr sz="2000" dirty="0"/>
            </a:br>
            <a:r>
              <a:rPr sz="2000" dirty="0"/>
              <a:t>from </a:t>
            </a:r>
            <a:r>
              <a:rPr sz="2000" dirty="0" err="1"/>
              <a:t>dataclasses</a:t>
            </a:r>
            <a:r>
              <a:rPr sz="2000" dirty="0"/>
              <a:t> import </a:t>
            </a:r>
            <a:r>
              <a:rPr sz="2000" dirty="0" err="1"/>
              <a:t>dataclass</a:t>
            </a:r>
            <a:br>
              <a:rPr sz="2000" dirty="0"/>
            </a:br>
            <a:r>
              <a:rPr sz="2000" dirty="0"/>
              <a:t>@</a:t>
            </a:r>
            <a:r>
              <a:rPr sz="2000" dirty="0" err="1"/>
              <a:t>dataclass</a:t>
            </a:r>
            <a:br>
              <a:rPr sz="2000" dirty="0"/>
            </a:br>
            <a:r>
              <a:rPr sz="2000" dirty="0"/>
              <a:t>class Point:</a:t>
            </a:r>
            <a:br>
              <a:rPr sz="2000" dirty="0"/>
            </a:br>
            <a:r>
              <a:rPr sz="2000" dirty="0"/>
              <a:t>    x: int</a:t>
            </a:r>
            <a:br>
              <a:rPr sz="2000" dirty="0"/>
            </a:br>
            <a:r>
              <a:rPr sz="2000" dirty="0"/>
              <a:t>    y: int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Key Terminology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dirty="0"/>
          </a:p>
          <a:p>
            <a:r>
              <a:rPr b="1" dirty="0"/>
              <a:t>Class</a:t>
            </a:r>
            <a:r>
              <a:rPr dirty="0"/>
              <a:t>: Blueprint for creating objects</a:t>
            </a:r>
          </a:p>
          <a:p>
            <a:r>
              <a:rPr b="1" dirty="0"/>
              <a:t>Object</a:t>
            </a:r>
            <a:r>
              <a:rPr dirty="0"/>
              <a:t> (Instance): A concrete “thing” created from a class</a:t>
            </a:r>
          </a:p>
          <a:p>
            <a:r>
              <a:rPr b="1" dirty="0"/>
              <a:t>Attribute</a:t>
            </a:r>
            <a:r>
              <a:rPr dirty="0"/>
              <a:t>: Data stored in the object</a:t>
            </a:r>
          </a:p>
          <a:p>
            <a:r>
              <a:rPr b="1" dirty="0"/>
              <a:t>Method</a:t>
            </a:r>
            <a:r>
              <a:rPr dirty="0"/>
              <a:t>: Function that belongs to a class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3D1945-7260-09C2-253D-D3CEACD5AB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417DD84-CC62-DF9B-DB21-2D218EBFAC4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r>
              <a:rPr lang="en-US" b="1" dirty="0"/>
              <a:t>Bank Account</a:t>
            </a:r>
            <a:endParaRPr lang="en-US" dirty="0"/>
          </a:p>
          <a:p>
            <a:pPr lvl="1">
              <a:buFont typeface="Arial" panose="020B0604020202020204" pitchFamily="34" charset="0"/>
              <a:buChar char="•"/>
            </a:pPr>
            <a:r>
              <a:rPr lang="en-US" dirty="0"/>
              <a:t>Attributes: </a:t>
            </a:r>
            <a:r>
              <a:rPr lang="en-US" dirty="0" err="1"/>
              <a:t>account_number</a:t>
            </a:r>
            <a:r>
              <a:rPr lang="en-US" dirty="0"/>
              <a:t>, balance, owner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dirty="0"/>
              <a:t>Methods: deposit(), withdraw(), </a:t>
            </a:r>
            <a:r>
              <a:rPr lang="en-US" dirty="0" err="1"/>
              <a:t>check_balance</a:t>
            </a:r>
            <a:r>
              <a:rPr lang="en-US" dirty="0"/>
              <a:t>()</a:t>
            </a:r>
          </a:p>
          <a:p>
            <a:r>
              <a:rPr lang="en-US" b="1" dirty="0"/>
              <a:t>Student</a:t>
            </a:r>
            <a:endParaRPr lang="en-US" dirty="0"/>
          </a:p>
          <a:p>
            <a:pPr lvl="1">
              <a:buFont typeface="Arial" panose="020B0604020202020204" pitchFamily="34" charset="0"/>
              <a:buChar char="•"/>
            </a:pPr>
            <a:r>
              <a:rPr lang="en-US" dirty="0"/>
              <a:t>Attributes: name, id, GPA, major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dirty="0"/>
              <a:t>Methods: enroll(course), drop(course), </a:t>
            </a:r>
            <a:r>
              <a:rPr lang="en-US" dirty="0" err="1"/>
              <a:t>update_gpa</a:t>
            </a:r>
            <a:r>
              <a:rPr lang="en-US" dirty="0"/>
              <a:t>()</a:t>
            </a:r>
          </a:p>
          <a:p>
            <a:r>
              <a:rPr lang="en-US" b="1" dirty="0"/>
              <a:t>Email Message</a:t>
            </a:r>
            <a:endParaRPr lang="en-US" dirty="0"/>
          </a:p>
          <a:p>
            <a:pPr lvl="1">
              <a:buFont typeface="Arial" panose="020B0604020202020204" pitchFamily="34" charset="0"/>
              <a:buChar char="•"/>
            </a:pPr>
            <a:r>
              <a:rPr lang="en-US" dirty="0"/>
              <a:t>Attributes: sender, recipient, subject, body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dirty="0"/>
              <a:t>Methods: send(), forward(), reply()</a:t>
            </a:r>
          </a:p>
          <a:p>
            <a:pPr marL="457200" lvl="1" indent="0">
              <a:buNone/>
            </a:pPr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7982703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A1246F-C330-0038-B8D8-B1EB223C52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Classes in R!!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C3CAA30-DB6F-D02B-389A-7D3FA77001D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b="1" dirty="0" err="1"/>
              <a:t>data.frame</a:t>
            </a:r>
            <a:r>
              <a:rPr lang="en-US" b="1" dirty="0"/>
              <a:t> / </a:t>
            </a:r>
            <a:r>
              <a:rPr lang="en-US" b="1" dirty="0" err="1"/>
              <a:t>tibble</a:t>
            </a:r>
            <a:r>
              <a:rPr lang="en-US" dirty="0"/>
              <a:t> (from </a:t>
            </a:r>
            <a:r>
              <a:rPr lang="en-US" i="1" dirty="0"/>
              <a:t>base R</a:t>
            </a:r>
            <a:r>
              <a:rPr lang="en-US" dirty="0"/>
              <a:t> or </a:t>
            </a:r>
            <a:r>
              <a:rPr lang="en-US" i="1" dirty="0" err="1"/>
              <a:t>tidyverse</a:t>
            </a:r>
            <a:r>
              <a:rPr lang="en-US" dirty="0"/>
              <a:t>)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dirty="0"/>
              <a:t>Attributes: rows, columns, column names, types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dirty="0"/>
              <a:t>Methods: print(), summary(), subset(), </a:t>
            </a:r>
            <a:r>
              <a:rPr lang="en-US" dirty="0" err="1"/>
              <a:t>tidyverse</a:t>
            </a:r>
            <a:r>
              <a:rPr lang="en-US" dirty="0"/>
              <a:t> verbs like mutate(), filter()</a:t>
            </a:r>
          </a:p>
          <a:p>
            <a:r>
              <a:rPr lang="en-US" b="1" dirty="0" err="1"/>
              <a:t>ggplot</a:t>
            </a:r>
            <a:r>
              <a:rPr lang="en-US" b="1" dirty="0"/>
              <a:t> objects</a:t>
            </a:r>
            <a:r>
              <a:rPr lang="en-US" dirty="0"/>
              <a:t> (from </a:t>
            </a:r>
            <a:r>
              <a:rPr lang="en-US" i="1" dirty="0"/>
              <a:t>ggplot2</a:t>
            </a:r>
            <a:r>
              <a:rPr lang="en-US" dirty="0"/>
              <a:t>)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dirty="0"/>
              <a:t>Attributes: data, aesthetic mappings, layers, themes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dirty="0"/>
              <a:t>Methods: print() → actually </a:t>
            </a:r>
            <a:r>
              <a:rPr lang="en-US" i="1" dirty="0"/>
              <a:t>draws</a:t>
            </a:r>
            <a:r>
              <a:rPr lang="en-US" dirty="0"/>
              <a:t> the plot, + operator adds layers</a:t>
            </a:r>
          </a:p>
          <a:p>
            <a:r>
              <a:rPr lang="en-US" b="1" dirty="0"/>
              <a:t>Model objects</a:t>
            </a:r>
            <a:r>
              <a:rPr lang="en-US" dirty="0"/>
              <a:t> (</a:t>
            </a:r>
            <a:r>
              <a:rPr lang="en-US" dirty="0" err="1"/>
              <a:t>lm</a:t>
            </a:r>
            <a:r>
              <a:rPr lang="en-US" dirty="0"/>
              <a:t>, </a:t>
            </a:r>
            <a:r>
              <a:rPr lang="en-US" dirty="0" err="1"/>
              <a:t>glm</a:t>
            </a:r>
            <a:r>
              <a:rPr lang="en-US" dirty="0"/>
              <a:t>, etc.)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dirty="0"/>
              <a:t>Attributes: coefficients, residuals, fitted values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dirty="0"/>
              <a:t>Methods: summary(), predict(), plot()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9906978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Key Terminology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dirty="0"/>
          </a:p>
          <a:p>
            <a:r>
              <a:rPr b="1" dirty="0"/>
              <a:t>Class</a:t>
            </a:r>
            <a:r>
              <a:rPr dirty="0"/>
              <a:t>: Blueprint for creating objects</a:t>
            </a:r>
          </a:p>
          <a:p>
            <a:r>
              <a:rPr b="1" dirty="0"/>
              <a:t>Object</a:t>
            </a:r>
            <a:r>
              <a:rPr dirty="0"/>
              <a:t> (Instance): A concrete “thing” created from a class</a:t>
            </a:r>
          </a:p>
          <a:p>
            <a:r>
              <a:rPr b="1" dirty="0"/>
              <a:t>Attribute</a:t>
            </a:r>
            <a:r>
              <a:rPr dirty="0"/>
              <a:t>: Data stored in the object</a:t>
            </a:r>
          </a:p>
          <a:p>
            <a:r>
              <a:rPr b="1" dirty="0"/>
              <a:t>Method</a:t>
            </a:r>
            <a:r>
              <a:rPr dirty="0"/>
              <a:t>: Function that belongs to a class</a:t>
            </a:r>
          </a:p>
        </p:txBody>
      </p:sp>
    </p:spTree>
    <p:extLst>
      <p:ext uri="{BB962C8B-B14F-4D97-AF65-F5344CB8AC3E}">
        <p14:creationId xmlns:p14="http://schemas.microsoft.com/office/powerpoint/2010/main" val="32996734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78200C-D1C8-F6C3-E0CD-F476507A61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Usage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1F9C297-A8C6-EEDE-1DD0-6B3A2AA9780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sz="2800" dirty="0">
                <a:latin typeface="Courier" pitchFamily="2" charset="0"/>
              </a:rPr>
              <a:t># initiate class “</a:t>
            </a:r>
            <a:r>
              <a:rPr lang="en-US" sz="2800" dirty="0" err="1">
                <a:latin typeface="Courier" pitchFamily="2" charset="0"/>
              </a:rPr>
              <a:t>lm</a:t>
            </a:r>
            <a:r>
              <a:rPr lang="en-US" sz="2800" dirty="0">
                <a:latin typeface="Courier" pitchFamily="2" charset="0"/>
              </a:rPr>
              <a:t>”</a:t>
            </a:r>
          </a:p>
          <a:p>
            <a:pPr marL="0" indent="0">
              <a:buNone/>
            </a:pPr>
            <a:r>
              <a:rPr lang="en-US" sz="2800" dirty="0">
                <a:latin typeface="Courier" pitchFamily="2" charset="0"/>
              </a:rPr>
              <a:t>m &lt;- </a:t>
            </a:r>
            <a:r>
              <a:rPr lang="en-US" sz="2800" dirty="0" err="1">
                <a:latin typeface="Courier" pitchFamily="2" charset="0"/>
              </a:rPr>
              <a:t>lm</a:t>
            </a:r>
            <a:r>
              <a:rPr lang="en-US" sz="2800" dirty="0">
                <a:latin typeface="Courier" pitchFamily="2" charset="0"/>
              </a:rPr>
              <a:t>(mpg ~ </a:t>
            </a:r>
            <a:r>
              <a:rPr lang="en-US" sz="2800" dirty="0" err="1">
                <a:latin typeface="Courier" pitchFamily="2" charset="0"/>
              </a:rPr>
              <a:t>wt</a:t>
            </a:r>
            <a:r>
              <a:rPr lang="en-US" sz="2800" dirty="0">
                <a:latin typeface="Courier" pitchFamily="2" charset="0"/>
              </a:rPr>
              <a:t> + hp, data = </a:t>
            </a:r>
            <a:r>
              <a:rPr lang="en-US" sz="2800" dirty="0" err="1">
                <a:latin typeface="Courier" pitchFamily="2" charset="0"/>
              </a:rPr>
              <a:t>mtcars</a:t>
            </a:r>
            <a:r>
              <a:rPr lang="en-US" sz="2800" dirty="0">
                <a:latin typeface="Courier" pitchFamily="2" charset="0"/>
              </a:rPr>
              <a:t>)</a:t>
            </a:r>
          </a:p>
          <a:p>
            <a:pPr marL="0" indent="0">
              <a:buNone/>
            </a:pPr>
            <a:r>
              <a:rPr lang="en-US" sz="2800" dirty="0">
                <a:latin typeface="Courier" pitchFamily="2" charset="0"/>
              </a:rPr>
              <a:t>class(m)</a:t>
            </a:r>
          </a:p>
          <a:p>
            <a:pPr marL="0" indent="0">
              <a:buNone/>
            </a:pPr>
            <a:r>
              <a:rPr lang="en-US" sz="2800" dirty="0">
                <a:latin typeface="Courier" pitchFamily="2" charset="0"/>
              </a:rPr>
              <a:t>summary(m) </a:t>
            </a:r>
          </a:p>
          <a:p>
            <a:pPr marL="0" indent="0">
              <a:buNone/>
            </a:pPr>
            <a:r>
              <a:rPr lang="en-US" sz="2800" dirty="0">
                <a:latin typeface="Courier" pitchFamily="2" charset="0"/>
              </a:rPr>
              <a:t>plot(m)</a:t>
            </a:r>
          </a:p>
        </p:txBody>
      </p:sp>
    </p:spTree>
    <p:extLst>
      <p:ext uri="{BB962C8B-B14F-4D97-AF65-F5344CB8AC3E}">
        <p14:creationId xmlns:p14="http://schemas.microsoft.com/office/powerpoint/2010/main" val="398684282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Example: Fraction Class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7772400" cy="411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endParaRPr/>
          </a:p>
          <a:p>
            <a:pPr>
              <a:defRPr sz="1800">
                <a:latin typeface="Courier New"/>
              </a:defRPr>
            </a:pPr>
            <a:r>
              <a:t>class Fraction:</a:t>
            </a:r>
            <a:br/>
            <a:r>
              <a:t>    def __init__(self, numerator, denominator):</a:t>
            </a:r>
            <a:br/>
            <a:r>
              <a:t>        self.num = numerator</a:t>
            </a:r>
            <a:br/>
            <a:r>
              <a:t>        self.den = denominator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Adding Behavior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7772400" cy="411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endParaRPr/>
          </a:p>
          <a:p>
            <a:pPr>
              <a:defRPr sz="1800">
                <a:latin typeface="Courier New"/>
              </a:defRPr>
            </a:pPr>
            <a:r>
              <a:t>def __str__(self):</a:t>
            </a:r>
            <a:br/>
            <a:r>
              <a:t>    return f"{self.num}/{self.den}"</a:t>
            </a:r>
            <a:br/>
            <a:br/>
            <a:r>
              <a:t>def __eq__(self, other):</a:t>
            </a:r>
            <a:br/>
            <a:r>
              <a:t>    return self.num * other.den == self.den * other.num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40D6AF-77C7-7B1B-6E58-B09521109A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Syntax for defining class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204A3E2-490D-3432-083E-F2161D144DF5}"/>
              </a:ext>
            </a:extLst>
          </p:cNvPr>
          <p:cNvSpPr txBox="1"/>
          <p:nvPr/>
        </p:nvSpPr>
        <p:spPr>
          <a:xfrm>
            <a:off x="457200" y="1298318"/>
            <a:ext cx="7731024" cy="37856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dirty="0">
                <a:latin typeface="Courier"/>
              </a:rPr>
              <a:t>class </a:t>
            </a:r>
            <a:r>
              <a:rPr lang="en-US" sz="1600" dirty="0" err="1">
                <a:latin typeface="Courier"/>
              </a:rPr>
              <a:t>MyClass</a:t>
            </a:r>
            <a:r>
              <a:rPr lang="en-US" sz="1600" dirty="0">
                <a:latin typeface="Courier"/>
              </a:rPr>
              <a:t>:</a:t>
            </a:r>
          </a:p>
          <a:p>
            <a:r>
              <a:rPr lang="en-US" sz="1600" dirty="0">
                <a:latin typeface="Courier"/>
              </a:rPr>
              <a:t>    def __</a:t>
            </a:r>
            <a:r>
              <a:rPr lang="en-US" sz="1600" dirty="0" err="1">
                <a:latin typeface="Courier"/>
              </a:rPr>
              <a:t>init</a:t>
            </a:r>
            <a:r>
              <a:rPr lang="en-US" sz="1600" dirty="0">
                <a:latin typeface="Courier"/>
              </a:rPr>
              <a:t>__(self, attr1, attr2, attr3):</a:t>
            </a:r>
          </a:p>
          <a:p>
            <a:r>
              <a:rPr lang="en-US" sz="1600" dirty="0">
                <a:latin typeface="Courier"/>
              </a:rPr>
              <a:t>        # Three attributes (data stored in the object)</a:t>
            </a:r>
          </a:p>
          <a:p>
            <a:r>
              <a:rPr lang="en-US" sz="1600" dirty="0">
                <a:latin typeface="Courier"/>
              </a:rPr>
              <a:t>        self.attr1 = attr1</a:t>
            </a:r>
          </a:p>
          <a:p>
            <a:r>
              <a:rPr lang="en-US" sz="1600" dirty="0">
                <a:latin typeface="Courier"/>
              </a:rPr>
              <a:t>        self.attr2 = attr2</a:t>
            </a:r>
          </a:p>
          <a:p>
            <a:r>
              <a:rPr lang="en-US" sz="1600" dirty="0">
                <a:latin typeface="Courier"/>
              </a:rPr>
              <a:t>        self.attr3 = attr3</a:t>
            </a:r>
          </a:p>
          <a:p>
            <a:endParaRPr lang="en-US" sz="1600" dirty="0">
              <a:latin typeface="Courier"/>
            </a:endParaRPr>
          </a:p>
          <a:p>
            <a:r>
              <a:rPr lang="en-US" sz="1600" dirty="0">
                <a:latin typeface="Courier"/>
              </a:rPr>
              <a:t>    def method1(self):</a:t>
            </a:r>
          </a:p>
          <a:p>
            <a:r>
              <a:rPr lang="en-US" sz="1600" dirty="0">
                <a:latin typeface="Courier"/>
              </a:rPr>
              <a:t>        # First method (does something with the attributes)</a:t>
            </a:r>
          </a:p>
          <a:p>
            <a:r>
              <a:rPr lang="en-US" sz="1600" dirty="0">
                <a:latin typeface="Courier"/>
              </a:rPr>
              <a:t>        print(</a:t>
            </a:r>
            <a:r>
              <a:rPr lang="en-US" sz="1600" dirty="0" err="1">
                <a:latin typeface="Courier"/>
              </a:rPr>
              <a:t>f"Attribute</a:t>
            </a:r>
            <a:r>
              <a:rPr lang="en-US" sz="1600" dirty="0">
                <a:latin typeface="Courier"/>
              </a:rPr>
              <a:t> 1 is {self.attr1}")</a:t>
            </a:r>
          </a:p>
          <a:p>
            <a:endParaRPr lang="en-US" sz="1600" dirty="0">
              <a:latin typeface="Courier"/>
            </a:endParaRPr>
          </a:p>
          <a:p>
            <a:r>
              <a:rPr lang="en-US" sz="1600" dirty="0">
                <a:latin typeface="Courier"/>
              </a:rPr>
              <a:t>    def method2(self, value):</a:t>
            </a:r>
          </a:p>
          <a:p>
            <a:r>
              <a:rPr lang="en-US" sz="1600" dirty="0">
                <a:latin typeface="Courier"/>
              </a:rPr>
              <a:t>        # Second method (changes an attribute)</a:t>
            </a:r>
          </a:p>
          <a:p>
            <a:r>
              <a:rPr lang="en-US" sz="1600" dirty="0">
                <a:latin typeface="Courier"/>
              </a:rPr>
              <a:t>        self.attr2 = value</a:t>
            </a:r>
          </a:p>
          <a:p>
            <a:r>
              <a:rPr lang="en-US" sz="1600" dirty="0">
                <a:latin typeface="Courier"/>
              </a:rPr>
              <a:t>        print(</a:t>
            </a:r>
            <a:r>
              <a:rPr lang="en-US" sz="1600" dirty="0" err="1">
                <a:latin typeface="Courier"/>
              </a:rPr>
              <a:t>f"Attribute</a:t>
            </a:r>
            <a:r>
              <a:rPr lang="en-US" sz="1600" dirty="0">
                <a:latin typeface="Courier"/>
              </a:rPr>
              <a:t> 2 is now {self.attr2}")</a:t>
            </a:r>
          </a:p>
        </p:txBody>
      </p:sp>
    </p:spTree>
    <p:extLst>
      <p:ext uri="{BB962C8B-B14F-4D97-AF65-F5344CB8AC3E}">
        <p14:creationId xmlns:p14="http://schemas.microsoft.com/office/powerpoint/2010/main" val="207640583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6A17CF-E381-23A1-F7BB-FCE5BB690C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Minimal Class example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C7F8170-C855-8B0A-F070-808541776B11}"/>
              </a:ext>
            </a:extLst>
          </p:cNvPr>
          <p:cNvSpPr txBox="1"/>
          <p:nvPr/>
        </p:nvSpPr>
        <p:spPr>
          <a:xfrm>
            <a:off x="1119209" y="1737773"/>
            <a:ext cx="4572000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latin typeface="Courier"/>
              </a:rPr>
              <a:t>class Greeter:</a:t>
            </a:r>
          </a:p>
          <a:p>
            <a:r>
              <a:rPr lang="en-US" dirty="0">
                <a:latin typeface="Courier"/>
              </a:rPr>
              <a:t>    def </a:t>
            </a:r>
            <a:r>
              <a:rPr lang="en-US" dirty="0" err="1">
                <a:latin typeface="Courier"/>
              </a:rPr>
              <a:t>say_hello</a:t>
            </a:r>
            <a:r>
              <a:rPr lang="en-US" dirty="0">
                <a:latin typeface="Courier"/>
              </a:rPr>
              <a:t>(self):</a:t>
            </a:r>
          </a:p>
          <a:p>
            <a:r>
              <a:rPr lang="en-US" dirty="0">
                <a:latin typeface="Courier"/>
              </a:rPr>
              <a:t>        print("Hello!")</a:t>
            </a:r>
          </a:p>
          <a:p>
            <a:r>
              <a:rPr lang="en-US" dirty="0">
                <a:latin typeface="Courier"/>
              </a:rPr>
              <a:t>        </a:t>
            </a:r>
          </a:p>
          <a:p>
            <a:r>
              <a:rPr lang="en-US" dirty="0">
                <a:latin typeface="Courier"/>
              </a:rPr>
              <a:t>g = Greeter()</a:t>
            </a:r>
          </a:p>
          <a:p>
            <a:r>
              <a:rPr lang="en-US" dirty="0" err="1">
                <a:latin typeface="Courier"/>
              </a:rPr>
              <a:t>g.say_hello</a:t>
            </a:r>
            <a:r>
              <a:rPr lang="en-US" dirty="0">
                <a:latin typeface="Courier"/>
              </a:rPr>
              <a:t>()</a:t>
            </a:r>
          </a:p>
        </p:txBody>
      </p:sp>
    </p:spTree>
    <p:extLst>
      <p:ext uri="{BB962C8B-B14F-4D97-AF65-F5344CB8AC3E}">
        <p14:creationId xmlns:p14="http://schemas.microsoft.com/office/powerpoint/2010/main" val="248837493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OOP Philosophies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dirty="0"/>
          </a:p>
          <a:p>
            <a:r>
              <a:rPr b="1" dirty="0"/>
              <a:t>Encapsulation</a:t>
            </a:r>
            <a:r>
              <a:rPr dirty="0"/>
              <a:t>: Keep data + behavior together</a:t>
            </a:r>
          </a:p>
          <a:p>
            <a:r>
              <a:rPr b="1" dirty="0"/>
              <a:t>Abstraction</a:t>
            </a:r>
            <a:r>
              <a:rPr dirty="0"/>
              <a:t>: Hide implementation details, expose simple interface</a:t>
            </a:r>
          </a:p>
          <a:p>
            <a:r>
              <a:rPr b="1" dirty="0"/>
              <a:t>Reusability</a:t>
            </a:r>
            <a:r>
              <a:rPr dirty="0"/>
              <a:t>: Write once, use in many places</a:t>
            </a:r>
          </a:p>
          <a:p>
            <a:r>
              <a:rPr b="1" dirty="0"/>
              <a:t>Polymorphism</a:t>
            </a:r>
            <a:r>
              <a:rPr dirty="0"/>
              <a:t>: Objects can share interfaces, behave differently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From Fractions to Operations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/>
          </a:p>
          <a:p>
            <a:r>
              <a:t>Instead of writing separate functions for add, sub, mul, div…</a:t>
            </a:r>
          </a:p>
          <a:p>
            <a:r>
              <a:t>We can design classes for binary operations.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Inheritance Basics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/>
          </a:p>
          <a:p>
            <a:r>
              <a:t>A new class can inherit from an existing one</a:t>
            </a:r>
          </a:p>
          <a:p>
            <a:r>
              <a:t>Reuse code without rewriting</a:t>
            </a:r>
          </a:p>
          <a:p>
            <a:r>
              <a:t>Example: BinaryOperation as a parent class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Binary Operation Example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7772400" cy="411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endParaRPr/>
          </a:p>
          <a:p>
            <a:pPr>
              <a:defRPr sz="1800">
                <a:latin typeface="Courier New"/>
              </a:defRPr>
            </a:pPr>
            <a:r>
              <a:t>class BinaryOperation:</a:t>
            </a:r>
            <a:br/>
            <a:r>
              <a:t>    def __init__(self, left, right):</a:t>
            </a:r>
            <a:br/>
            <a:r>
              <a:t>        self.left = left</a:t>
            </a:r>
            <a:br/>
            <a:r>
              <a:t>        self.right = right</a:t>
            </a:r>
            <a:br/>
            <a:br/>
            <a:r>
              <a:t>class Add(BinaryOperation):</a:t>
            </a:r>
            <a:br/>
            <a:r>
              <a:t>    def evaluate(self):</a:t>
            </a:r>
            <a:br/>
            <a:r>
              <a:t>        return self.left + self.right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Why Inheritance?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/>
          </a:p>
          <a:p>
            <a:r>
              <a:t>Code reuse: Shared logic in parent class</a:t>
            </a:r>
          </a:p>
          <a:p>
            <a:r>
              <a:t>Clarity: 'Is-a' relationships (Add is a BinaryOperation)</a:t>
            </a:r>
          </a:p>
          <a:p>
            <a:r>
              <a:t>Extensibility: Add new operations with minimal changes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Fractions + Operations Together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7772400" cy="411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endParaRPr/>
          </a:p>
          <a:p>
            <a:pPr>
              <a:defRPr sz="1800">
                <a:latin typeface="Courier New"/>
              </a:defRPr>
            </a:pPr>
            <a:r>
              <a:t>f1 = Fraction(1, 2)</a:t>
            </a:r>
            <a:br/>
            <a:r>
              <a:t>f2 = Fraction(1, 3)</a:t>
            </a:r>
            <a:br/>
            <a:r>
              <a:t>op = Add(f1, f2)</a:t>
            </a:r>
            <a:br/>
            <a:r>
              <a:t>print(op.evaluate())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Big Picture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/>
          </a:p>
          <a:p>
            <a:r>
              <a:t>Classes model the world</a:t>
            </a:r>
          </a:p>
          <a:p>
            <a:r>
              <a:t>Objects carry both data and behavior</a:t>
            </a:r>
          </a:p>
          <a:p>
            <a:r>
              <a:t>Inheritance organizes related classes</a:t>
            </a:r>
          </a:p>
          <a:p>
            <a:r>
              <a:t>Next: Practice in Lab 2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53</TotalTime>
  <Words>991</Words>
  <Application>Microsoft Office PowerPoint</Application>
  <PresentationFormat>On-screen Show (4:3)</PresentationFormat>
  <Paragraphs>122</Paragraphs>
  <Slides>20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4" baseType="lpstr">
      <vt:lpstr>Arial</vt:lpstr>
      <vt:lpstr>Calibri</vt:lpstr>
      <vt:lpstr>Courier</vt:lpstr>
      <vt:lpstr>Office Theme</vt:lpstr>
      <vt:lpstr>Introduction to Object-Oriented Programming (OOP)</vt:lpstr>
      <vt:lpstr>Why OOP?</vt:lpstr>
      <vt:lpstr>Struct</vt:lpstr>
      <vt:lpstr>Two ways to make Structs-like Data in Python</vt:lpstr>
      <vt:lpstr>Key Terminology</vt:lpstr>
      <vt:lpstr>Examples</vt:lpstr>
      <vt:lpstr>Classes in R!!</vt:lpstr>
      <vt:lpstr>Key Terminology</vt:lpstr>
      <vt:lpstr>Usage</vt:lpstr>
      <vt:lpstr>Example: Fraction Class</vt:lpstr>
      <vt:lpstr>Adding Behavior</vt:lpstr>
      <vt:lpstr>Syntax for defining class</vt:lpstr>
      <vt:lpstr>Minimal Class example</vt:lpstr>
      <vt:lpstr>OOP Philosophies</vt:lpstr>
      <vt:lpstr>From Fractions to Operations</vt:lpstr>
      <vt:lpstr>Inheritance Basics</vt:lpstr>
      <vt:lpstr>Binary Operation Example</vt:lpstr>
      <vt:lpstr>Why Inheritance?</vt:lpstr>
      <vt:lpstr>Fractions + Operations Together</vt:lpstr>
      <vt:lpstr>Big Picture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Introduction to Object-Oriented Programming (OOP)</dc:title>
  <dc:subject/>
  <dc:creator/>
  <cp:keywords/>
  <dc:description>generated using python-pptx</dc:description>
  <cp:lastModifiedBy>Paul Regier</cp:lastModifiedBy>
  <cp:revision>4</cp:revision>
  <dcterms:created xsi:type="dcterms:W3CDTF">2013-01-27T09:14:16Z</dcterms:created>
  <dcterms:modified xsi:type="dcterms:W3CDTF">2025-09-08T23:07:29Z</dcterms:modified>
  <cp:category/>
</cp:coreProperties>
</file>